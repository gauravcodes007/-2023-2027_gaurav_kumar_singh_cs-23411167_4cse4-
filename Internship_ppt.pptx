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4" name="Image 0" descr="/home/claude/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685800"/>
            <a:ext cx="1371600" cy="12527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057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0" y="2514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U.P.  •  School of Computer Science and Engineering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0" y="3017520"/>
            <a:ext cx="57881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3246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REPORT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3611880"/>
            <a:ext cx="9628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Learning, Deep Learning and</a:t>
            </a:r>
            <a:endParaRPr lang="en-US" sz="2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with Retrieval-Augmented Generation (RAG)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200400" y="4800600"/>
            <a:ext cx="57881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26080" y="5029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5029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Kumar Singh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53583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NO.: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53583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CS-23411167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5687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SEMESTER: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5687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CSE, 7th Semester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6016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ORGANISATION: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6016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Ybi Foundation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 // 2026.08.29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SUMMARY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354312" y="43891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54312" y="4389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YBI FOUNDATION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3444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technical summary of ML to RAG implementation strategies, detailing the integration of Large Language Models with structured knowledge retrieval.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2359152" cy="411480"/>
          </a:xfrm>
          <a:prstGeom prst="rect">
            <a:avLst/>
          </a:prstGeom>
          <a:solidFill>
            <a:srgbClr val="FAFAFA"/>
          </a:solidFill>
          <a:ln w="15875">
            <a:solidFill>
              <a:srgbClr val="0A0A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0749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0672" y="5074920"/>
            <a:ext cx="2002536" cy="411480"/>
          </a:xfrm>
          <a:prstGeom prst="rect">
            <a:avLst/>
          </a:prstGeom>
          <a:solidFill>
            <a:srgbClr val="FAFAFA"/>
          </a:solidFill>
          <a:ln w="15875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90672" y="507492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76088" y="5074920"/>
            <a:ext cx="1764792" cy="411480"/>
          </a:xfrm>
          <a:prstGeom prst="rect">
            <a:avLst/>
          </a:prstGeom>
          <a:solidFill>
            <a:srgbClr val="FAFAFA"/>
          </a:solidFill>
          <a:ln w="15875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76088" y="507492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1325880"/>
            <a:ext cx="4023360" cy="4160520"/>
          </a:xfrm>
          <a:prstGeom prst="rect">
            <a:avLst/>
          </a:prstGeom>
          <a:solidFill>
            <a:srgbClr val="0D0D0D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146304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window.onload = function(){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b(b){ return this.each(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function(){ this.element = a(b)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};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c.VERSION = "3.3.7";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c.TRANSITION_DURATION = 150;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if(d || (d = b.attr('href')))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= d.replace(/.*(?=#)/,'');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 = a.Event('show.bs.tab',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relatedTarget: b[0]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5C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this.activate(b.closest('li'), c);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18120" y="4160520"/>
            <a:ext cx="36576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73568" y="4279392"/>
            <a:ext cx="3383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foundational neural architectures with modern vector-based retrieval for enterprise AI applications.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870448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61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KUMAR SINGH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36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 •  IILM University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6108192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PUBLISHED: 2026.08.29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/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51476" y="43891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51476" y="4389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ARCHITECTURE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MODELS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BORN OBSOLETE.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Large Language Models operate within a fixed knowledge cutoff. Without grounding, they rely on statistical probability rather than factual retrieval, leading to systemic hallucinations in 2026 enterprise environments.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5486400" cy="-9144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4800600"/>
            <a:ext cx="128016" cy="1280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5074920"/>
            <a:ext cx="1737360" cy="38404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5074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INTEGRATION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97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RELEVANCE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5897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AUGMENTATION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3063240"/>
            <a:ext cx="4617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31546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RISK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355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Unchecked generation leads to factual drift in time-sensitive queries.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95160" y="4251960"/>
            <a:ext cx="4617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4343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CUTOFF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lack awareness of proprietary data or post-training events.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95160" y="5440680"/>
            <a:ext cx="4617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5440680"/>
            <a:ext cx="54864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0" y="55321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PATH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733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6126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reasoning engines to live, verifiable document vectors.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29, 2026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LAYOUT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14316" y="438912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14316" y="438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ROADMAP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FOUR-WEEK TECHNICAL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88920"/>
            <a:ext cx="0" cy="3246120"/>
          </a:xfrm>
          <a:prstGeom prst="line">
            <a:avLst/>
          </a:prstGeom>
          <a:noFill/>
          <a:ln w="190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743200"/>
            <a:ext cx="128016" cy="1280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624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FUNDAMENTALS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926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supervised learning pipelines, automated feature engineering, and model validation techniques for tabular data architectures.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50392" y="3639312"/>
            <a:ext cx="128016" cy="1280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35478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DEEP LEARNING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8221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multi-layer perceptrons and CNNs. Focus on optimization strategies, backpropagation, and neural network regularization.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0392" y="4535424"/>
            <a:ext cx="128016" cy="1280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34440" y="44439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4416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&amp; PROMPT ENGINEERING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471830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Transformer architectures and fine-tuning strategies. Implementing few-shot learning and system prompt optimization.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" y="5431536"/>
            <a:ext cx="128016" cy="12801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34440" y="53400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788920" y="5248656"/>
            <a:ext cx="8138160" cy="960120"/>
          </a:xfrm>
          <a:prstGeom prst="rect">
            <a:avLst/>
          </a:prstGeom>
          <a:solidFill>
            <a:srgbClr val="FAFAFA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71800" y="53126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&amp; GENAI ORCHESTRATION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561441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Active Development (2026.08.29). Deploying LangChain agents with vector databases to create context-aware retrieval systems.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091672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FOUNDATIONS / 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079992" y="438912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79992" y="4389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METRYON FRAMEWORK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supervised learning and neural architectures through the lens of rigorous statistical validation and real-world Ybi Foundation datasets.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0"/>
          </a:xfrm>
          <a:prstGeom prst="line">
            <a:avLst/>
          </a:prstGeom>
          <a:noFill/>
          <a:ln w="15875">
            <a:solidFill>
              <a:srgbClr val="0A0A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880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development including data cleaning, feature engineering, and implementation of classification and regression algorithms.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6858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13048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13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METRICS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8130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model performance using specific indicators: MSE for error variance, R-squared for goodness of fit, and MAE for robust error assessment.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6858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745736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74573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ARCHITECTURES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474573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ANN for structured data, CNN for spatial feature extraction in images, and LSTM for time-series forecasting and sequence modeling.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14416"/>
            <a:ext cx="6858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678424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67842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567842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Leveraging Ybi Foundation datasets to simulate production environments, ensuring models maintain high accuracy across diverse training sets.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2880360"/>
            <a:ext cx="3703320" cy="3246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MLX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VISUALIZATION 2026.08.29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FLOW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34356" y="43891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34356" y="438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5156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RAG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processing, embedding, and retrieval layers to produce grounded, context-aware answers for enterprise workloads.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8780" y="3977640"/>
            <a:ext cx="640080" cy="6400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687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PROCESSING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074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ingestion, cleaning, and semantic chunking of raw enterprise documents.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4297680"/>
            <a:ext cx="19202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03420" y="3977640"/>
            <a:ext cx="640080" cy="6400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034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EMBEDDING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5074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models mapping text chunks into high-dimensional vector space.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4297680"/>
            <a:ext cx="19202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8060" y="3977640"/>
            <a:ext cx="640080" cy="6400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380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RETRIEVAL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074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similarity search and prompt grounding using LLM orchestration.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9408" y="4297680"/>
            <a:ext cx="192024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72700" y="3977640"/>
            <a:ext cx="640080" cy="64008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727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4754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50749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source citations and final response generation for users.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291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AI FRAMEWORK // 2026.08.29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000232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/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34356" y="43891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134356" y="438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VECTOR</a:t>
            </a:r>
            <a:endParaRPr lang="en-US" sz="4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03320"/>
            <a:ext cx="352044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[ 01 ]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OPTIMIZATION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of FAISS vector databases enables sub-millisecond similarity search across high-dimensional datasets in 2026.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37033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[ 02 ]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INTEGRITY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Hugging Face transformers ensures model response reliability via standardized embedding pipelines.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370332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3886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[ 03 ]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ACCURACY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5537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orchestration loops reduce hallucination rates by strictly grounding generation in verified vector context.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54864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PHASE: SCALING DISTRIBUTED RAG ARCHITECTURES FOR ENTERPRISE DEPLOYMENT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5852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06 / 2026.08.29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/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94276" y="438912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94276" y="4389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9001:2016 CERTIFIED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TECHNICAL</a:t>
            </a:r>
            <a:endParaRPr lang="en-US" sz="4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31546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academic theory with industry-standard AI implementation through rigorous certification at Ybi Foundation.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39596" y="416052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39596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9001:2016 Standards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85716" y="416052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5716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Ybi Foundation Program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31836" y="416052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31836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 Review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AI SYSTEMS ARCHITECT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5532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2026.08.29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5504688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2026-08-29T08:46:46Z</dcterms:created>
  <dcterms:modified xsi:type="dcterms:W3CDTF">2026-08-29T08:46:46Z</dcterms:modified>
</cp:coreProperties>
</file>